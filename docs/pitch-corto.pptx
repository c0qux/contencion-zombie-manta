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576adae81400c" /><Relationship Type="http://schemas.openxmlformats.org/officeDocument/2006/relationships/extended-properties" Target="/docProps/app.xml" Id="Rdf671651a797465f" /><Relationship Type="http://schemas.openxmlformats.org/officeDocument/2006/relationships/officeDocument" Target="/ppt/presentation.xml" Id="R438ad7c2ef9b4a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3a037692c4473c"/>
  </p:sldMasterIdLst>
  <p:notesMasterIdLst>
    <p:notesMasterId xmlns:r="http://schemas.openxmlformats.org/officeDocument/2006/relationships" r:id="Rb8e066509e8e4c81"/>
  </p:notesMasterIdLst>
  <p:sldIdLst>
    <p:sldId xmlns:r="http://schemas.openxmlformats.org/officeDocument/2006/relationships" id="256" r:id="R83039ffd70dd4292"/>
    <p:sldId xmlns:r="http://schemas.openxmlformats.org/officeDocument/2006/relationships" id="257" r:id="R30e2d12c0212468a"/>
    <p:sldId xmlns:r="http://schemas.openxmlformats.org/officeDocument/2006/relationships" id="258" r:id="R33b307d555f64d7b"/>
    <p:sldId xmlns:r="http://schemas.openxmlformats.org/officeDocument/2006/relationships" id="259" r:id="R1144f6d2120547ac"/>
    <p:sldId xmlns:r="http://schemas.openxmlformats.org/officeDocument/2006/relationships" id="260" r:id="Rd51732099db14539"/>
    <p:sldId xmlns:r="http://schemas.openxmlformats.org/officeDocument/2006/relationships" id="261" r:id="Radf2d8ca502641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e0be369b84c10" /><Relationship Type="http://schemas.openxmlformats.org/officeDocument/2006/relationships/slideMaster" Target="/ppt/slideMasters/slideMaster1.xml" Id="R583a037692c4473c" /><Relationship Type="http://schemas.openxmlformats.org/officeDocument/2006/relationships/notesMaster" Target="/ppt/notesMasters/notesMaster1.xml" Id="Rb8e066509e8e4c81" /><Relationship Type="http://schemas.openxmlformats.org/officeDocument/2006/relationships/presProps" Target="/ppt/presProps.xml" Id="Rc67f24e696544a23" /><Relationship Type="http://schemas.openxmlformats.org/officeDocument/2006/relationships/tableStyles" Target="/ppt/tableStyles.xml" Id="R5776e8f8355647ad" /><Relationship Type="http://schemas.openxmlformats.org/officeDocument/2006/relationships/slide" Target="/ppt/slides/slide1.xml" Id="R83039ffd70dd4292" /><Relationship Type="http://schemas.openxmlformats.org/officeDocument/2006/relationships/slide" Target="/ppt/slides/slide2.xml" Id="R30e2d12c0212468a" /><Relationship Type="http://schemas.openxmlformats.org/officeDocument/2006/relationships/slide" Target="/ppt/slides/slide3.xml" Id="R33b307d555f64d7b" /><Relationship Type="http://schemas.openxmlformats.org/officeDocument/2006/relationships/slide" Target="/ppt/slides/slide4.xml" Id="R1144f6d2120547ac" /><Relationship Type="http://schemas.openxmlformats.org/officeDocument/2006/relationships/slide" Target="/ppt/slides/slide5.xml" Id="Rd51732099db14539" /><Relationship Type="http://schemas.openxmlformats.org/officeDocument/2006/relationships/slide" Target="/ppt/slides/slide6.xml" Id="Radf2d8ca502641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40896169543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e16c018ed43a6" /><Relationship Type="http://schemas.openxmlformats.org/officeDocument/2006/relationships/notesMaster" Target="/ppt/notesMasters/notesMaster1.xml" Id="Rf700a46773aa43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203a530d274214" /><Relationship Type="http://schemas.openxmlformats.org/officeDocument/2006/relationships/notesMaster" Target="/ppt/notesMasters/notesMaster1.xml" Id="Rea416d6a64d741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f905d4e3254bfd" /><Relationship Type="http://schemas.openxmlformats.org/officeDocument/2006/relationships/notesMaster" Target="/ppt/notesMasters/notesMaster1.xml" Id="R1001e3b14c354a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ef070f11ba4326" /><Relationship Type="http://schemas.openxmlformats.org/officeDocument/2006/relationships/notesMaster" Target="/ppt/notesMasters/notesMaster1.xml" Id="Rfe003e6e247348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86b10e03f14aec" /><Relationship Type="http://schemas.openxmlformats.org/officeDocument/2006/relationships/notesMaster" Target="/ppt/notesMasters/notesMaster1.xml" Id="Rf0dd0d1a3eba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b8f7e94a74016" /><Relationship Type="http://schemas.openxmlformats.org/officeDocument/2006/relationships/notesMaster" Target="/ppt/notesMasters/notesMaster1.xml" Id="Rad4dceec598447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Abrir con el problema: Manta tiene recursos limitados y debe decidir dónde actuar primero. Es una simulación educativa, no una predicción sanitaria. Nombre oficial y reto: contexto del equipo y README del repositorio https://github.com/C0qUX/contencion-zombie-manta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0:30–1:05. Explicar que población, dosis y tasas son supuestos del escenario. Son 35 infecciosos iniciales en mercado. La vacuna solo se ofrece a susceptibles; fallos consumen dosis. Fuente: src/domain/simulation.ts DEFAULT_INPUT y README.md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1:05–1:50. Mostrar la demo en el navegador. El mapa reproduce una corrida individual y el resumen usa 120. Calles OSM cuando están disponibles; anclas y casos ficticios, sin casos reales por calle. Fuente visual: captura del producto del equipo en el build local; peticiones cartográficas interceptadas en QA. Método: docs/modelo.md y docs/mapa-manta.md.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1:50–2:35. Comparación de medias en el escenario oficial: 2.509,9 dirigida, 2.961,4 azar y 12.259,1 no intervenir. Las dos vacunaciones comparten inventario, capacidad, inicio y eficacia; el consumo puede diferir por elegibilidad. P10-P90 pareado dirigido vs azar: 326,6–595,6. No es intervalo de confianza. Se preservan casos donde pierde. La búsqueda de 32 reglas usa 24 futuros separados de evaluación. Fuente: docs/evidencia/sensibilidad.json y docs/modelo.md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2:35–4:00. Pasar a la demo pública. Restablecer el oficial; abrir modo presentación y ×3. Después contagio ×2 y mitad de stock, ejecutar y explicar la nueva recomendación. Mostrar semilla editable. Los 90 días se reproducen en unos 30 s a ×3; el cálculo Monte Carlo ya terminó antes. Al finalizar se prepara el informe PDF de dos páginas que resume todas las corridas. Fuente: scripts/verify-live-report.cjs y src/components/PlaceNetwork.tsx.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4:00–5:00. Diagrama editable. GitHub guarda código y Actions ejecuta npm ci, Vitest y build con Node 22. Amplify Hosting Ohio usa HTTPS y sirve dist. AWS Budget configurado a 5 USD con umbrales 1/4/5; la confirmación del correo sigue pendiente de evidencia. React 19 y TypeScript construidos con Vite. Un Web Worker ejecuta SEIR, Mulberry32 y Monte Carlo localmente. OSM suministra calles externas best-effort; cinco grupos son sintéticos. Gráficas SVG y controles muestran datos; pdf-lib 1.17.1 crea el PDF y se exporta JSON. Fuentes: package.json, amplify.yml, docs/arquitectura.md, docs/costos.md, docs/infraestructura.md. Hosting estimado 2,76 USD/mes bajo supuestos documentados; no es factura final. Cerrar abriendo la URL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e2116da2c46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10289085949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3bb8618804c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02f022c0e42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09622607442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6257922be4d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D12EB2-988E-4374-B437-D92DC0E62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CCEF31-13A5-4796-A8AA-E0E050FBD1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27D326-70EE-4951-B5EF-1A305B25A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2AE442-E894-4A70-A190-DA4113B53C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53CD22-451E-4D36-A9AD-005B3A5407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52F9D6-C3BA-44CA-AF79-F04F1E1A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7AD48C-173B-4D9B-8732-0AAEEC88BA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794193-65D3-458B-BB17-C08BF1977F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0793F-27D9-48F4-A171-C951D89EB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4B122A-BDE2-4E3B-A64F-B23221376F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7a7485bad4215" /><Relationship Type="http://schemas.openxmlformats.org/officeDocument/2006/relationships/slideLayout" Target="/ppt/slideLayouts/slideLayout1.xml" Id="Rcadc96609db9412d" /><Relationship Type="http://schemas.openxmlformats.org/officeDocument/2006/relationships/slideLayout" Target="/ppt/slideLayouts/slideLayout2.xml" Id="Rab36e5e79af340dc" /><Relationship Type="http://schemas.openxmlformats.org/officeDocument/2006/relationships/slideLayout" Target="/ppt/slideLayouts/slideLayout3.xml" Id="R69f0301ccbbb4908" /><Relationship Type="http://schemas.openxmlformats.org/officeDocument/2006/relationships/slideLayout" Target="/ppt/slideLayouts/slideLayout4.xml" Id="Rba1b7d3af8954737" /><Relationship Type="http://schemas.openxmlformats.org/officeDocument/2006/relationships/slideLayout" Target="/ppt/slideLayouts/slideLayout5.xml" Id="R1e01eab287234589" /><Relationship Type="http://schemas.openxmlformats.org/officeDocument/2006/relationships/slideLayout" Target="/ppt/slideLayouts/slideLayout6.xml" Id="Raadee521706b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c96609db9412d"/>
    <p:sldLayoutId xmlns:r="http://schemas.openxmlformats.org/officeDocument/2006/relationships" id="2147483650" r:id="Rab36e5e79af340dc"/>
    <p:sldLayoutId xmlns:r="http://schemas.openxmlformats.org/officeDocument/2006/relationships" id="2147483651" r:id="R69f0301ccbbb4908"/>
    <p:sldLayoutId xmlns:r="http://schemas.openxmlformats.org/officeDocument/2006/relationships" id="2147483652" r:id="Rba1b7d3af8954737"/>
    <p:sldLayoutId xmlns:r="http://schemas.openxmlformats.org/officeDocument/2006/relationships" id="2147483653" r:id="R1e01eab287234589"/>
    <p:sldLayoutId xmlns:r="http://schemas.openxmlformats.org/officeDocument/2006/relationships" id="2147483654" r:id="Raadee521706b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49fc014984396" /><Relationship Type="http://schemas.openxmlformats.org/officeDocument/2006/relationships/notesSlide" Target="/ppt/notesSlides/notesSlide1.xml" Id="R8e35f5382a804a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a0dd597144b5e" /><Relationship Type="http://schemas.openxmlformats.org/officeDocument/2006/relationships/notesSlide" Target="/ppt/notesSlides/notesSlide2.xml" Id="R1fdb3865bf1e42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fb4642e5c4224" /><Relationship Type="http://schemas.openxmlformats.org/officeDocument/2006/relationships/image" Target="/ppt/media/image.png" Id="R17017daee6b942af" /><Relationship Type="http://schemas.openxmlformats.org/officeDocument/2006/relationships/notesSlide" Target="/ppt/notesSlides/notesSlide3.xml" Id="R5e33f1a71ee34d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09b2cdd324d00" /><Relationship Type="http://schemas.openxmlformats.org/officeDocument/2006/relationships/chart" Target="/ppt/slides/charts/chart1.xml" Id="R199adb76dd584ddb" /><Relationship Type="http://schemas.openxmlformats.org/officeDocument/2006/relationships/notesSlide" Target="/ppt/notesSlides/notesSlide4.xml" Id="Rbc6d6d4bb7964a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4cc981b124e1b" /><Relationship Type="http://schemas.openxmlformats.org/officeDocument/2006/relationships/notesSlide" Target="/ppt/notesSlides/notesSlide5.xml" Id="R8620818b842141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57e71ff124c03" /><Relationship Type="http://schemas.openxmlformats.org/officeDocument/2006/relationships/notesSlide" Target="/ppt/notesSlides/notesSlide6.xml" Id="R915e8ad6a8c1455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Contagios medios</c:v>
          </c:tx>
          <c:spPr>
            <a:solidFill xmlns:a="http://schemas.openxmlformats.org/drawingml/2006/main">
              <a:srgbClr val="087B4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87B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796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52F4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Plan dirigido</c:v>
                </c:pt>
                <c:pt idx="1">
                  <c:v>Vacunar al azar</c:v>
                </c:pt>
                <c:pt idx="2">
                  <c:v>No intervenir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2509.9</c:v>
                </c:pt>
                <c:pt idx="1">
                  <c:v>2961.4</c:v>
                </c:pt>
                <c:pt idx="2">
                  <c:v>12259.1</c:v>
                </c:pt>
              </c:numCache>
            </c:numRef>
          </c:val>
        </c:ser>
        <c:dLbls>
          <c:numFmt formatCode="#,##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9D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0B3DC-FD7C-4833-AC14-71C58169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7DaysToSurvive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4D7BF-F891-4AA7-B18E-4D1CBAD8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7DaysToSurvive · SpookyThon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8C168-BEE8-425A-B45B-C2AFEFAF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0F0EF-D045-4AF4-AFD7-FCD396B6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Cada vacuna cuenta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1B1B5-E257-40C3-BD71-C1F7B93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Una herramienta para decidir dónde actuar primero</a:t>
            </a:r>
          </a:p>
          <a:p xmlns:a="http://schemas.openxmlformats.org/drawingml/2006/main">
            <a:pPr>
              <a:defRPr sz="25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ante un brote ficticio en Manta.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FDE9D-3B91-4B20-A1CF-11928E26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Simulamos opciones. Comparamos resultados. Explicamos una decisión.</a:t>
            </a:r>
          </a:p>
        </p:txBody>
      </p:sp>
    </p:spTree>
    <p:extLst>
      <p:ext uri="{BB962C8B-B14F-4D97-AF65-F5344CB8AC3E}">
        <p14:creationId xmlns:p14="http://schemas.microsoft.com/office/powerpoint/2010/main" val="2103284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C46BB-7920-4987-BEDB-1946609F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El problema: no podemos proteger todo a la vez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50305-B910-44E1-8E9B-4BCE14FA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7DaysToSurvive · SpookyThon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C5658-3456-4EDE-A54C-40ABDC5C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0CF30-870F-43C5-ABF8-D7FBF29D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defPPr>
            <a:lvl1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1pPr>
            <a:lvl2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2pPr>
            <a:lvl3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3pPr>
            <a:lvl4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4pPr>
            <a:lvl5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5pPr>
            <a:lvl6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6pPr>
            <a:lvl7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7pPr>
            <a:lvl8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8pPr>
            <a:lvl9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35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D52F49"/>
                </a:solidFill>
                <a:latin typeface="Arial"/>
                <a:ea typeface="Arial"/>
                <a:cs typeface="Arial"/>
              </a:rPr>
              <a:t>15.000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43159-3AF4-468E-A678-169FD032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personas en una ciudad simulada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2F114-C3B0-4E3A-839C-9B17E05F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21C9B-7027-49DF-B992-B476ADEF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dosis disponibles por día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A4E05-CBEC-4F86-83B3-3DD1664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¿Dónde conviene vacunar primero?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7DE9F-BB55-4527-B9D6-75734EBE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Escenario: 35 infectados iniciales en mercado · stock 15.120 dosis · inicio día 6</a:t>
            </a:r>
          </a:p>
        </p:txBody>
      </p:sp>
    </p:spTree>
    <p:extLst>
      <p:ext uri="{BB962C8B-B14F-4D97-AF65-F5344CB8AC3E}">
        <p14:creationId xmlns:p14="http://schemas.microsoft.com/office/powerpoint/2010/main" val="971776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58030-2D67-4BD5-9BC6-FFBC9F8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La solución: probar futuros antes de decidir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7076D-2331-4CAF-AEF8-9E8B8828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7DaysToSurvive · SpookyThon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E5453-193D-493F-AF6B-056D7D81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275E3-CB3C-4D0D-8D64-A27B1DFA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1. Elegimos el brote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F271A-0960-4BB4-B3A5-D3C3E85E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Contagio, vacunas, eficacia y lugar inicial.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396A2-86E6-40DC-B1E0-526ED07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2. Probamos 120 futuros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0C76C-0BB6-4B25-8198-84120046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Mismo número de partida, mismo resultado.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15A4B-DE84-4066-AE62-F48F4AC8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3. Recomendamos una acción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17D66-C90C-4EAE-95DD-0C98506C4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17daee6b942af"/>
          <a:stretch xmlns:a="http://schemas.openxmlformats.org/drawingml/2006/main"/>
        </p:blipFill>
        <p:spPr>
          <a:xfrm xmlns:a="http://schemas.openxmlformats.org/drawingml/2006/main">
            <a:off x="5715000" y="2015827"/>
            <a:ext cx="5810250" cy="358834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E7DB6-D700-48AC-B18A-EE7DA03D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578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Mapa sintético de respaldo · una corrida ilustrada</a:t>
            </a:r>
          </a:p>
        </p:txBody>
      </p:sp>
    </p:spTree>
    <p:extLst>
      <p:ext uri="{BB962C8B-B14F-4D97-AF65-F5344CB8AC3E}">
        <p14:creationId xmlns:p14="http://schemas.microsoft.com/office/powerpoint/2010/main" val="9687380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962B1-68D0-457C-ADDA-C61D8548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451,5 contagios menos que vacunar al azar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627E8-1C1F-4C7D-A919-2919B366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7DaysToSurvive · SpookyThon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7E062-75BF-4741-B27C-83A44546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F0BC40D-9040-4647-BA7D-E4BE7815720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9adb76dd584dd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562EE-2400-4963-8556-32F835F8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Mismos recursos</a:t>
            </a:r>
          </a:p>
          <a:p xmlns:a="http://schemas.openxmlformats.org/drawingml/2006/main">
            <a:pPr>
              <a:defRPr sz="25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disponibles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9A2DC-C43E-4DD4-AE1E-5DE38C5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120 corridas</a:t>
            </a:r>
          </a:p>
          <a:p xmlns:a="http://schemas.openxmlformats.org/drawingml/2006/main">
            <a: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Semilla 2026</a:t>
            </a:r>
          </a:p>
          <a:p xmlns:a="http://schemas.openxmlformats.org/drawingml/2006/main">
            <a:pPr>
              <a:defRPr sz="217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90 días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30052-8497-4824-859C-ED19C526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Diferencia P10–P90 frente al azar: 326,6 a 595,6 contagios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DC53C-B2EB-438D-AB1F-489043C8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Escenario ficticio. El resultado puede cambiar; las pérdidas también se muestran.</a:t>
            </a:r>
          </a:p>
        </p:txBody>
      </p:sp>
    </p:spTree>
    <p:extLst>
      <p:ext uri="{BB962C8B-B14F-4D97-AF65-F5344CB8AC3E}">
        <p14:creationId xmlns:p14="http://schemas.microsoft.com/office/powerpoint/2010/main" val="1017383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AD437-2A4F-498D-9CBB-6FCDC6F8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Brote Sorpresa: cambiar y volver a comparar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47F50-01BA-422D-ACAF-64C89007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7DaysToSurvive · SpookyThon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B024E-5ADC-4B54-A1E5-EAFE8E90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65675-1A62-41D0-BBA3-0560B6A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714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52F49"/>
                </a:solidFill>
                <a:latin typeface="Arial"/>
                <a:ea typeface="Arial"/>
                <a:cs typeface="Arial"/>
              </a:rPr>
              <a:t>Más contagio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DA926-9DB3-427B-92CA-8943CE80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714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D52F4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52F49"/>
                </a:solidFill>
                <a:latin typeface="Arial"/>
                <a:ea typeface="Arial"/>
                <a:cs typeface="Arial"/>
              </a:rPr>
              <a:t>Menos vacunas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4A0A2-D333-4A3F-B3AF-424529A3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Una nueva decisión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67BF9-2941-41A4-BA18-B9683D76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×3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CE341-436B-4AD8-8A53-6A10F00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90 días</a:t>
            </a:r>
          </a:p>
          <a:p xmlns:a="http://schemas.openxmlformats.org/drawingml/2006/main">
            <a:pPr>
              <a:defRPr sz="2325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en 30 segundos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D6F42-0F7E-4561-8ADC-D4B0463F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Mapa día a día + vacunas + presupuesto supuesto + informe para el alcalde</a:t>
            </a:r>
          </a:p>
        </p:txBody>
      </p:sp>
    </p:spTree>
    <p:extLst>
      <p:ext uri="{BB962C8B-B14F-4D97-AF65-F5344CB8AC3E}">
        <p14:creationId xmlns:p14="http://schemas.microsoft.com/office/powerpoint/2010/main" val="350385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1AB129-4CC1-4B0C-9AC4-2FFF8A60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Cómo funciona todo 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5EC56-9F63-4B73-B4D4-9BFC8A49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7DaysToSurvive · SpookyThon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709DB-76E8-44F9-B1F5-4487C41F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6AA8E-50C7-4E62-BE53-5C57BC36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8F3"/>
          </a:solidFill>
          <a:ln xmlns:a="http://schemas.openxmlformats.org/drawingml/2006/main" w="14288">
            <a:solidFill>
              <a:srgbClr val="85B99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B6ABF-102B-46B1-9F70-B4245FD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GitHub + pruebas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4D1AD-30E8-4D37-837D-8F452DF2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2705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Código del equipo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Actions · Vitest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Node 22 · npm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36ED5-563B-488B-962B-9113479D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5C4A9-F6CB-43D3-B63A-27EB542D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8F3"/>
          </a:solidFill>
          <a:ln xmlns:a="http://schemas.openxmlformats.org/drawingml/2006/main" w="14288">
            <a:solidFill>
              <a:srgbClr val="85B99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F45B5-51D0-4A5C-A6AD-5CDA0EFF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192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AWS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B1E1E-EA0C-4FD3-BCED-70C27ACC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57425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Amplify Hosting · Ohio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Build y publicación HTTPS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AWS Budget: alertas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2CB62-AECB-440D-9E07-1A644C40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80C91-FB0A-43D9-BD5E-5DD4C092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190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8F3"/>
          </a:solidFill>
          <a:ln xmlns:a="http://schemas.openxmlformats.org/drawingml/2006/main" w="14288">
            <a:solidFill>
              <a:srgbClr val="85B99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FB2F2-4722-4F29-A6FF-1425B7D1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19275"/>
            <a:ext cx="2847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Tu navegador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294C2-D081-4F92-9486-75B772CF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57425"/>
            <a:ext cx="28479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React 19 · TypeScript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Interfaz creada con Vite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Controles y resultados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6CD80-B3E1-4D1E-9098-B95E8123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82A"/>
                </a:solidFill>
                <a:latin typeface="Arial"/>
                <a:ea typeface="Arial"/>
                <a:cs typeface="Arial"/>
              </a:rPr>
              <a:t>Dentro del navegador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C8E59-55B6-4413-A9C7-891DD1C6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9562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4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C412C-D6BF-4DE7-9075-C6C3F009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14750"/>
            <a:ext cx="763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4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3CFAB-11E6-4DAD-9B47-D6A58F63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4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35023-6B5D-459C-8908-74787D52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4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AB855-6513-430C-914D-4DBE178E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B4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EEF33-B49D-4BC6-BD5F-4B06FED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8F3"/>
          </a:solidFill>
          <a:ln xmlns:a="http://schemas.openxmlformats.org/drawingml/2006/main" w="14288">
            <a:solidFill>
              <a:srgbClr val="85B99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78A09-0962-4F67-B5D2-7FAFE446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Simulación local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74191-00A2-414D-B8E1-95DF5833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086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Web Worker · SEIR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Semilla Mulberry32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Monte Carlo: 120 corridas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1B4E4C-D215-4660-85AE-ED52D4C7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8F3"/>
          </a:solidFill>
          <a:ln xmlns:a="http://schemas.openxmlformats.org/drawingml/2006/main" w="14288">
            <a:solidFill>
              <a:srgbClr val="85B99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C8105-8CB0-4EE2-9EB8-9F4082E4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Mapa y gráficas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7DD3C-97BF-40C3-90F9-B6247A7E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3086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Calles de OpenStreetMap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Casos y grupos sintéticos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Curvas SVG · día a día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25540-7AB3-44EA-B8C1-69BE4607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8F3"/>
          </a:solidFill>
          <a:ln xmlns:a="http://schemas.openxmlformats.org/drawingml/2006/main" w="14288">
            <a:solidFill>
              <a:srgbClr val="85B99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F792D-401F-4098-AF72-2FC1F58C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529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Informe final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23832-1EC2-44CC-B41D-803C67C6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3086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PDF con pdf-lib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Configuración en JSON</a:t>
            </a:r>
          </a:p>
          <a:p xmlns:a="http://schemas.openxmlformats.org/drawingml/2006/main">
            <a:pPr>
              <a:defRPr sz="1650" b="0">
                <a:solidFill>
                  <a:srgbClr val="1438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82A"/>
                </a:solidFill>
                <a:latin typeface="Arial"/>
                <a:ea typeface="Arial"/>
                <a:cs typeface="Arial"/>
              </a:rPr>
              <a:t>Decisión y recursos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7164F-F821-4BA4-87BB-A7BFD5BD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B49"/>
                </a:solidFill>
                <a:latin typeface="Arial"/>
                <a:ea typeface="Arial"/>
                <a:cs typeface="Arial"/>
              </a:rPr>
              <a:t>AWS publica la app; el navegador calcula. Hosting estimado: USD 2,76/mes.*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0C0B64-4B14-4F31-989E-58F8BCE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5B"/>
                </a:solidFill>
                <a:latin typeface="Arial"/>
                <a:ea typeface="Arial"/>
                <a:cs typeface="Arial"/>
              </a:rPr>
              <a:t>*Supuesto: 40 builds de 5 min, 0,5 GB almacenados y 5 GB transferidos. Antes de créditos.</a:t>
            </a:r>
          </a:p>
        </p:txBody>
      </p:sp>
    </p:spTree>
    <p:extLst>
      <p:ext uri="{BB962C8B-B14F-4D97-AF65-F5344CB8AC3E}">
        <p14:creationId xmlns:p14="http://schemas.microsoft.com/office/powerpoint/2010/main" val="959827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2026-10-30T18:12:14.3580000Z</dcterms:created>
  <dcterms:modified xsi:type="dcterms:W3CDTF">2026-10-30T18:12:14.3580000Z</dcterms:modified>
</coreProperties>
</file>